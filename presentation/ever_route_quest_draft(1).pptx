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25400">
            <a:solidFill>
              <a:srgbClr val="1242D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5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5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F"/>
          </a:solidFill>
          <a:ln w="12700">
            <a:solidFill>
              <a:srgbClr val="EA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0BA866"/>
          </a:solidFill>
          <a:ln w="12700">
            <a:solidFill>
              <a:srgbClr val="0BA86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82296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EVER ROUTE QUEST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53619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경로 추천 × 대기시간 게이미피케이션 통합 기획안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057400"/>
            <a:ext cx="7406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“어디로 갈지”와 “기다리는 동안 무엇을 할지”를 동시에 설계함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80360"/>
            <a:ext cx="233172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3970">
            <a:solidFill>
              <a:srgbClr val="A7CC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218688"/>
            <a:ext cx="548640" cy="548640"/>
          </a:xfrm>
          <a:prstGeom prst="ellipse">
            <a:avLst/>
          </a:prstGeom>
          <a:solidFill>
            <a:srgbClr val="1438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19272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18488" y="3072384"/>
            <a:ext cx="1143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실시간 경로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18488" y="3456432"/>
            <a:ext cx="1261872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대기·혼잡·위치 기반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행동 추천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880360"/>
            <a:ext cx="233172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3970">
            <a:solidFill>
              <a:srgbClr val="A7CC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47872" y="3218688"/>
            <a:ext cx="548640" cy="548640"/>
          </a:xfrm>
          <a:prstGeom prst="ellipse">
            <a:avLst/>
          </a:prstGeom>
          <a:solidFill>
            <a:srgbClr val="8352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3319272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1960" y="3072384"/>
            <a:ext cx="1188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 Quest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3456432"/>
            <a:ext cx="123444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시간을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미션·보상으로 전환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61888" y="2880360"/>
            <a:ext cx="233172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3970">
            <a:solidFill>
              <a:srgbClr val="A7CC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3218688"/>
            <a:ext cx="548640" cy="548640"/>
          </a:xfrm>
          <a:prstGeom prst="ellipse">
            <a:avLst/>
          </a:prstGeom>
          <a:solidFill>
            <a:srgbClr val="00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319272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76288" y="3072384"/>
            <a:ext cx="1143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매출 연결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76288" y="3456432"/>
            <a:ext cx="123444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F&amp;B·굿즈·멤버십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자연 유입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54096" y="3511296"/>
            <a:ext cx="256032" cy="0"/>
          </a:xfrm>
          <a:prstGeom prst="line">
            <a:avLst/>
          </a:prstGeom>
          <a:noFill/>
          <a:ln w="25400">
            <a:solidFill>
              <a:srgbClr val="1438D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687568" y="3511296"/>
            <a:ext cx="256032" cy="0"/>
          </a:xfrm>
          <a:prstGeom prst="line">
            <a:avLst/>
          </a:prstGeom>
          <a:noFill/>
          <a:ln w="25400">
            <a:solidFill>
              <a:srgbClr val="1438D6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13232" y="6144768"/>
            <a:ext cx="3749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DFFF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 초안 v0.1  |  project_ever main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5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3832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문제 정의: 스마트 줄서기 이후의 빈 시간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방문객은 줄서기를 줄였지만, 남은 시간을 어떻게 쓸지는 여전히 직접 판단함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3200400" cy="448056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3970">
            <a:solidFill>
              <a:srgbClr val="CFE2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경험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1874520"/>
            <a:ext cx="548640" cy="548640"/>
          </a:xfrm>
          <a:prstGeom prst="ellipse">
            <a:avLst/>
          </a:prstGeom>
          <a:solidFill>
            <a:srgbClr val="1438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75104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72768" y="1892808"/>
            <a:ext cx="14630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예약 완료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72768" y="2167128"/>
            <a:ext cx="1920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스마트 줄서기로 특정 시설 예약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170432" y="2459736"/>
            <a:ext cx="0" cy="182880"/>
          </a:xfrm>
          <a:prstGeom prst="line">
            <a:avLst/>
          </a:prstGeom>
          <a:noFill/>
          <a:ln w="25400">
            <a:solidFill>
              <a:srgbClr val="BFD7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6112" y="2724912"/>
            <a:ext cx="548640" cy="548640"/>
          </a:xfrm>
          <a:prstGeom prst="ellipse">
            <a:avLst/>
          </a:prstGeom>
          <a:solidFill>
            <a:srgbClr val="1438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825496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72768" y="2743200"/>
            <a:ext cx="14630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 시간 발생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72768" y="3017520"/>
            <a:ext cx="1920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탑승까지 40~90분 남음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70432" y="3310128"/>
            <a:ext cx="0" cy="182880"/>
          </a:xfrm>
          <a:prstGeom prst="line">
            <a:avLst/>
          </a:prstGeom>
          <a:noFill/>
          <a:ln w="25400">
            <a:solidFill>
              <a:srgbClr val="BFD7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6112" y="3575304"/>
            <a:ext cx="548640" cy="548640"/>
          </a:xfrm>
          <a:prstGeom prst="ellipse">
            <a:avLst/>
          </a:prstGeom>
          <a:solidFill>
            <a:srgbClr val="1438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675888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72768" y="3593592"/>
            <a:ext cx="14630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판단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72768" y="3867912"/>
            <a:ext cx="1920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식사·사진·공연·다음 시설 검색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170432" y="4160520"/>
            <a:ext cx="0" cy="182880"/>
          </a:xfrm>
          <a:prstGeom prst="line">
            <a:avLst/>
          </a:prstGeom>
          <a:noFill/>
          <a:ln w="25400">
            <a:solidFill>
              <a:srgbClr val="BFD7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6112" y="4425696"/>
            <a:ext cx="548640" cy="548640"/>
          </a:xfrm>
          <a:prstGeom prst="ellipse">
            <a:avLst/>
          </a:prstGeom>
          <a:solidFill>
            <a:srgbClr val="1438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72768" y="4443984"/>
            <a:ext cx="14630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피로 누적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72768" y="4718304"/>
            <a:ext cx="1920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길찾기·대기·혼잡 때문에 선택 피로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51960" y="1234440"/>
            <a:ext cx="3200400" cy="4480560"/>
          </a:xfrm>
          <a:prstGeom prst="roundRect">
            <a:avLst>
              <a:gd name="adj" fmla="val 3143"/>
            </a:avLst>
          </a:prstGeom>
          <a:solidFill>
            <a:srgbClr val="FFF9E7"/>
          </a:solidFill>
          <a:ln w="13970">
            <a:solidFill>
              <a:srgbClr val="FFE49A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98848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기회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8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대기시간 = 버려지는 시간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715000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498848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0A6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대기시간 = 이동·소비·퀘스트 시간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9432" y="3794760"/>
            <a:ext cx="256032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스마트 줄서기를 없애는 게 아니라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예약 전후의 시간을 AI가 재설계함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845552" y="1234440"/>
            <a:ext cx="3611880" cy="4480560"/>
          </a:xfrm>
          <a:prstGeom prst="roundRect">
            <a:avLst>
              <a:gd name="adj" fmla="val 2785"/>
            </a:avLst>
          </a:prstGeom>
          <a:solidFill>
            <a:srgbClr val="FFFFFF"/>
          </a:solidFill>
          <a:ln w="13970">
            <a:solidFill>
              <a:srgbClr val="CFE2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19872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 자료 반영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8160" y="1938528"/>
            <a:ext cx="502920" cy="301752"/>
          </a:xfrm>
          <a:prstGeom prst="roundRect">
            <a:avLst>
              <a:gd name="adj" fmla="val 45455"/>
            </a:avLst>
          </a:prstGeom>
          <a:solidFill>
            <a:srgbClr val="1438D6"/>
          </a:solidFill>
          <a:ln w="12700">
            <a:solidFill>
              <a:srgbClr val="1438D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11312" y="1993392"/>
            <a:ext cx="35661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59952" y="1938528"/>
            <a:ext cx="228600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스마트 줄서기 이후 시간 최적화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38160" y="2542032"/>
            <a:ext cx="502920" cy="301752"/>
          </a:xfrm>
          <a:prstGeom prst="roundRect">
            <a:avLst>
              <a:gd name="adj" fmla="val 45455"/>
            </a:avLst>
          </a:prstGeom>
          <a:solidFill>
            <a:srgbClr val="8352FF"/>
          </a:solidFill>
          <a:ln w="12700">
            <a:solidFill>
              <a:srgbClr val="8352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11312" y="2596896"/>
            <a:ext cx="35661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759952" y="2542032"/>
            <a:ext cx="246888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실시간 개인화 Quest / Shade / Photo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38160" y="3145536"/>
            <a:ext cx="502920" cy="301752"/>
          </a:xfrm>
          <a:prstGeom prst="roundRect">
            <a:avLst>
              <a:gd name="adj" fmla="val 45455"/>
            </a:avLst>
          </a:prstGeom>
          <a:solidFill>
            <a:srgbClr val="00A678"/>
          </a:solidFill>
          <a:ln w="12700">
            <a:solidFill>
              <a:srgbClr val="00A67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11312" y="3200400"/>
            <a:ext cx="35661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759952" y="3145536"/>
            <a:ext cx="233172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대기시간 × F&amp;B × 멤버십 보상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138160" y="3749040"/>
            <a:ext cx="685800" cy="301752"/>
          </a:xfrm>
          <a:prstGeom prst="roundRect">
            <a:avLst>
              <a:gd name="adj" fmla="val 45455"/>
            </a:avLst>
          </a:prstGeom>
          <a:solidFill>
            <a:srgbClr val="FF8A33"/>
          </a:solidFill>
          <a:ln w="12700">
            <a:solidFill>
              <a:srgbClr val="FF8A3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11312" y="3803904"/>
            <a:ext cx="53949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915400" y="3749040"/>
            <a:ext cx="201168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Route + Waiting Quest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138160" y="4617720"/>
            <a:ext cx="27432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결론: “어디로 갈지”와 “기다리는 동안 무엇을 할지”를 한 번에 해결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5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3832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해결안: AI Route + Waiting Quest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경로 추천이 퀘스트를 만들고, 퀘스트가 자연스럽게 동선·소비·체류를 바꿈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83080" y="3246120"/>
            <a:ext cx="1143000" cy="0"/>
          </a:xfrm>
          <a:prstGeom prst="line">
            <a:avLst/>
          </a:prstGeom>
          <a:noFill/>
          <a:ln w="25400">
            <a:solidFill>
              <a:srgbClr val="1438D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343400" y="3246120"/>
            <a:ext cx="1143000" cy="0"/>
          </a:xfrm>
          <a:prstGeom prst="line">
            <a:avLst/>
          </a:prstGeom>
          <a:noFill/>
          <a:ln w="25400">
            <a:solidFill>
              <a:srgbClr val="1438D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903720" y="3246120"/>
            <a:ext cx="1143000" cy="0"/>
          </a:xfrm>
          <a:prstGeom prst="line">
            <a:avLst/>
          </a:prstGeom>
          <a:noFill/>
          <a:ln w="25400">
            <a:solidFill>
              <a:srgbClr val="1438D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464040" y="3246120"/>
            <a:ext cx="1143000" cy="0"/>
          </a:xfrm>
          <a:prstGeom prst="line">
            <a:avLst/>
          </a:prstGeom>
          <a:noFill/>
          <a:ln w="25400">
            <a:solidFill>
              <a:srgbClr val="1438D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148840"/>
            <a:ext cx="1783080" cy="219456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3970">
            <a:solidFill>
              <a:srgbClr val="BFD7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15568" y="2423160"/>
            <a:ext cx="548640" cy="548640"/>
          </a:xfrm>
          <a:prstGeom prst="ellipse">
            <a:avLst/>
          </a:prstGeom>
          <a:solidFill>
            <a:srgbClr val="1438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523744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035808"/>
            <a:ext cx="1417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" y="3502152"/>
            <a:ext cx="138988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목표·동행·퇴장시간</a:t>
            </a:r>
            <a:endParaRPr lang="en-US" sz="9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스마트 줄서기 정보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063240" y="2148840"/>
            <a:ext cx="1783080" cy="2194560"/>
          </a:xfrm>
          <a:prstGeom prst="roundRect">
            <a:avLst>
              <a:gd name="adj" fmla="val 5641"/>
            </a:avLst>
          </a:prstGeom>
          <a:solidFill>
            <a:srgbClr val="F0F7FF"/>
          </a:solidFill>
          <a:ln w="13970">
            <a:solidFill>
              <a:srgbClr val="BFD7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75888" y="2423160"/>
            <a:ext cx="548640" cy="548640"/>
          </a:xfrm>
          <a:prstGeom prst="ellipse">
            <a:avLst/>
          </a:prstGeom>
          <a:solidFill>
            <a:srgbClr val="8352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5888" y="2523744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46120" y="3035808"/>
            <a:ext cx="1417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분석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64408" y="3502152"/>
            <a:ext cx="138988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위치·대기·혼잡·공연</a:t>
            </a:r>
            <a:endParaRPr lang="en-US" sz="9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식당·이동시간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623560" y="2148840"/>
            <a:ext cx="1783080" cy="219456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3970">
            <a:solidFill>
              <a:srgbClr val="BFD7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2423160"/>
            <a:ext cx="548640" cy="548640"/>
          </a:xfrm>
          <a:prstGeom prst="ellipse">
            <a:avLst/>
          </a:prstGeom>
          <a:solidFill>
            <a:srgbClr val="00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2523744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06440" y="3035808"/>
            <a:ext cx="1417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경로 추천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4728" y="3502152"/>
            <a:ext cx="138988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2~3개 일정 후보</a:t>
            </a:r>
            <a:endParaRPr lang="en-US" sz="9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 변화 시 재계산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183880" y="2148840"/>
            <a:ext cx="1783080" cy="2194560"/>
          </a:xfrm>
          <a:prstGeom prst="roundRect">
            <a:avLst>
              <a:gd name="adj" fmla="val 5641"/>
            </a:avLst>
          </a:prstGeom>
          <a:solidFill>
            <a:srgbClr val="F0F7FF"/>
          </a:solidFill>
          <a:ln w="13970">
            <a:solidFill>
              <a:srgbClr val="BFD7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96528" y="2423160"/>
            <a:ext cx="548640" cy="548640"/>
          </a:xfrm>
          <a:prstGeom prst="ellipse">
            <a:avLst/>
          </a:prstGeom>
          <a:solidFill>
            <a:srgbClr val="FF8A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96528" y="2523744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3035808"/>
            <a:ext cx="1417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 Quest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85048" y="3502152"/>
            <a:ext cx="138988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시간에 맞는</a:t>
            </a:r>
            <a:endParaRPr lang="en-US" sz="9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짧은 미션·픽업·사진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0287000" y="2148840"/>
            <a:ext cx="1783080" cy="219456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3970">
            <a:solidFill>
              <a:srgbClr val="BFD7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899648" y="2423160"/>
            <a:ext cx="548640" cy="548640"/>
          </a:xfrm>
          <a:prstGeom prst="ellipse">
            <a:avLst/>
          </a:prstGeom>
          <a:solidFill>
            <a:srgbClr val="071A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99648" y="2523744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469880" y="3035808"/>
            <a:ext cx="1417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보상/소비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488168" y="3502152"/>
            <a:ext cx="138988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배지·포인트</a:t>
            </a:r>
            <a:endParaRPr lang="en-US" sz="9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F&amp;B·굿즈 유입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914400" y="4983480"/>
            <a:ext cx="4800600" cy="841248"/>
          </a:xfrm>
          <a:prstGeom prst="roundRect">
            <a:avLst>
              <a:gd name="adj" fmla="val 11957"/>
            </a:avLst>
          </a:prstGeom>
          <a:solidFill>
            <a:srgbClr val="EAF4FF"/>
          </a:solidFill>
          <a:ln w="13970">
            <a:solidFill>
              <a:srgbClr val="BFD7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4712" y="5239512"/>
            <a:ext cx="4389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T익스프레스까지 50분 남음 → 근처 포토존 15분 + 간식 픽업 10분 + 이동 8분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6400800" y="4983480"/>
            <a:ext cx="4800600" cy="841248"/>
          </a:xfrm>
          <a:prstGeom prst="roundRect">
            <a:avLst>
              <a:gd name="adj" fmla="val 11957"/>
            </a:avLst>
          </a:prstGeom>
          <a:solidFill>
            <a:srgbClr val="FFF4E6"/>
          </a:solidFill>
          <a:ln w="13970">
            <a:solidFill>
              <a:srgbClr val="FFD1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5239512"/>
            <a:ext cx="4389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대기열 급증 → 사파리 먼저 추천 + 이동 중 Quest 지급 + F&amp;B 쿠폰 연결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5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3832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구현 구조와 기대 효과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MVP는 전체 파크가 아니라 주요 동선/대기 구간에서 검증하는 방식이 현실적임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474720" cy="448056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13970">
            <a:solidFill>
              <a:srgbClr val="CFE2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 데이터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QR/NFC 체크포인트 위치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267712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스마트 줄서기 예약시간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660904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실시간 대기·운영 상태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54096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공연·퍼레이드 일정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447288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F&amp;B 매장 위치·혼잡도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사용자 선호·동행 유형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143000"/>
            <a:ext cx="3474720" cy="448056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13970">
            <a:solidFill>
              <a:srgbClr val="CFE2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범위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548640" cy="548640"/>
          </a:xfrm>
          <a:prstGeom prst="ellipse">
            <a:avLst/>
          </a:prstGeom>
          <a:solidFill>
            <a:srgbClr val="1438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29384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1938528"/>
            <a:ext cx="1920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인기 어트랙션 1~2곳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395728"/>
            <a:ext cx="548640" cy="548640"/>
          </a:xfrm>
          <a:prstGeom prst="ellipse">
            <a:avLst/>
          </a:prstGeom>
          <a:solidFill>
            <a:srgbClr val="8352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96312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2505456"/>
            <a:ext cx="1920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분기점 QR/NFC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962656"/>
            <a:ext cx="548640" cy="548640"/>
          </a:xfrm>
          <a:prstGeom prst="ellipse">
            <a:avLst/>
          </a:prstGeom>
          <a:solidFill>
            <a:srgbClr val="00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072384"/>
            <a:ext cx="1920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대기시간 30~90분 구간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529584"/>
            <a:ext cx="548640" cy="548640"/>
          </a:xfrm>
          <a:prstGeom prst="ellipse">
            <a:avLst/>
          </a:prstGeom>
          <a:solidFill>
            <a:srgbClr val="FF8A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630168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3639312"/>
            <a:ext cx="1920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간식·포토·짧은 미션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4096512"/>
            <a:ext cx="548640" cy="548640"/>
          </a:xfrm>
          <a:prstGeom prst="ellipse">
            <a:avLst/>
          </a:prstGeom>
          <a:solidFill>
            <a:srgbClr val="071A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197096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4206240"/>
            <a:ext cx="1920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보상은 배지/소액 쿠폰 중심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21040" y="1143000"/>
            <a:ext cx="3200400" cy="448056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3970">
            <a:solidFill>
              <a:srgbClr val="CFE2FF"/>
            </a:solidFill>
            <a:prstDash val="solid"/>
          </a:ln>
          <a:effectLst>
            <a:outerShdw sx="100000" sy="100000" kx="0" ky="0" algn="bl" rotWithShape="0" blurRad="19050" dist="50800" dir="2700000">
              <a:srgbClr val="9DB7DA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953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기대 효과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41080" y="1847088"/>
            <a:ext cx="1005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0A6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만족도 ↑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656064" y="1865376"/>
            <a:ext cx="1417320" cy="192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 피로 감소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41080" y="2377440"/>
            <a:ext cx="1005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3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체류시간 ↑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656064" y="2395728"/>
            <a:ext cx="1417320" cy="192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시간 활용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641080" y="2907792"/>
            <a:ext cx="1005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8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매출 ↑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656064" y="2926080"/>
            <a:ext cx="1417320" cy="192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F&amp;B·굿즈 유입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641080" y="3438144"/>
            <a:ext cx="1005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835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혼잡 ↓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656064" y="3456432"/>
            <a:ext cx="1417320" cy="192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경로·Quest 분산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41080" y="3968496"/>
            <a:ext cx="1005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재방문 ↑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656064" y="3986784"/>
            <a:ext cx="1417320" cy="192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시즌 Quest 진행도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9808" y="5989320"/>
            <a:ext cx="1097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메시지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874520" y="5961888"/>
            <a:ext cx="8961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71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스마트 줄서기가 대기를 줄였다면, EVER ROUTE QUEST는 대기 전후의 시간을 경험과 매출로 전환함.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5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SSAFY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 ROUTE QUEST</dc:title>
  <dc:subject>AI Route + Waiting Quest draft</dc:subject>
  <dc:creator>project_ever team</dc:creator>
  <cp:lastModifiedBy>project_ever team</cp:lastModifiedBy>
  <cp:revision>1</cp:revision>
  <dcterms:created xsi:type="dcterms:W3CDTF">2026-09-10T07:55:34Z</dcterms:created>
  <dcterms:modified xsi:type="dcterms:W3CDTF">2026-09-10T07:55:34Z</dcterms:modified>
</cp:coreProperties>
</file>